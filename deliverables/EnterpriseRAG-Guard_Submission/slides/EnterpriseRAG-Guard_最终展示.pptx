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2662D9"/>
                </a:solidFill>
                <a:latin typeface="Aptos"/>
              </a:rPr>
              <a:t>EnterpriseRAG-Guard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7335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面向企业知识库 Agent 的可迁移提示注入防御框架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37085"/>
                </a:solidFill>
                <a:latin typeface="Aptos"/>
              </a:rPr>
              <a:t>从课程型 RAG 实验升级为：多企业知识库、分层安全网关、红队挑战、企业接入与公网演示平台。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657600"/>
            <a:ext cx="1417320" cy="320040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7216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员工查询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0008" y="3657600"/>
            <a:ext cx="1417320" cy="320040"/>
          </a:xfrm>
          <a:prstGeom prst="roundRect">
            <a:avLst/>
          </a:prstGeom>
          <a:solidFill>
            <a:srgbClr val="C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37216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攻击挑战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0208" y="3657600"/>
            <a:ext cx="1417320" cy="320040"/>
          </a:xfrm>
          <a:prstGeom prst="roundRect">
            <a:avLst/>
          </a:prstGeom>
          <a:solidFill>
            <a:srgbClr val="266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8" y="37216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可信证据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0408" y="3657600"/>
            <a:ext cx="1417320" cy="320040"/>
          </a:xfrm>
          <a:prstGeom prst="roundRect">
            <a:avLst/>
          </a:prstGeom>
          <a:solidFill>
            <a:srgbClr val="6F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0408" y="37216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企业接入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80644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21C2D"/>
                </a:solidFill>
                <a:latin typeface="Aptos"/>
              </a:rPr>
              <a:t>黎鸿基 · 乔伊宁 · 孙钰婷 · 徐晨飞 · 刘婧祺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8064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37085"/>
                </a:solidFill>
                <a:latin typeface="Aptos"/>
              </a:rPr>
              <a:t>公网：enterprise-rag-guard-deploy.onrender.com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为什么企业 RAG 需要安全防御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RAG 把外部文档放进上下文，也把文档投毒风险带进模型。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7276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8D2D"/>
                </a:solidFill>
                <a:latin typeface="Aptos"/>
              </a:rPr>
              <a:t>普通 RAG 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2962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检索结果既是“证据”，也可能被模型误当成“指令”。投毒网页或 PDF 可诱导模型伪造政策。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7276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D3A3A"/>
                </a:solidFill>
                <a:latin typeface="Aptos"/>
              </a:rPr>
              <a:t>企业场景风险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920240"/>
            <a:ext cx="2962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HR、合规、IT、财务知识可能涉及权限、凭证、制度解释和审计责任，错误回答影响更高。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57276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项目目标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920240"/>
            <a:ext cx="29626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不是做一个跨公司混合问答，而是给每家企业自己的知识库 Agent 加安全网关。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C2D"/>
                </a:solidFill>
                <a:latin typeface="Aptos"/>
              </a:rPr>
              <a:t>核心公式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662D9"/>
                </a:solidFill>
                <a:latin typeface="Aptos"/>
              </a:rPr>
              <a:t>Company Agent = Universal Security Core + Company Security Profile + Company Knowledge 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最终项目形态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系统贡献 + 数据贡献 + 防御贡献 + 产品贡献。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4654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系统贡献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4654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通用安全核心与企业 profile 解耦，支持不同公司迁移。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572768"/>
            <a:ext cx="4654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965C"/>
                </a:solidFill>
                <a:latin typeface="Aptos"/>
              </a:rPr>
              <a:t>数据贡献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920240"/>
            <a:ext cx="4654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7 家企业、1084 chunks，中英双语，HTML/PDF/本地资料。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30168"/>
            <a:ext cx="4654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D3A3A"/>
                </a:solidFill>
                <a:latin typeface="Aptos"/>
              </a:rPr>
              <a:t>防御贡献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77639"/>
            <a:ext cx="4654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B0-B7 消融：检测、来源、隔离、抽取、验证、拒答。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74720"/>
            <a:ext cx="4983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630168"/>
            <a:ext cx="4654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49BE"/>
                </a:solidFill>
                <a:latin typeface="Aptos"/>
              </a:rPr>
              <a:t>产品贡献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977639"/>
            <a:ext cx="4654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公网网站：员工查询、攻击挑战、Trace、企业接入。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多企业语料与评测集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公开资料构建代理知识库，不声称拥有企业内部机密。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Tencent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512064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5120640" cy="256032"/>
          </a:xfrm>
          <a:prstGeom prst="roundRect">
            <a:avLst/>
          </a:prstGeom>
          <a:solidFill>
            <a:srgbClr val="266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280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62D9"/>
                </a:solidFill>
                <a:latin typeface="Aptos"/>
              </a:rPr>
              <a:t>100.0%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BYD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512064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5120640" cy="256032"/>
          </a:xfrm>
          <a:prstGeom prst="roundRect">
            <a:avLst/>
          </a:prstGeom>
          <a:solidFill>
            <a:srgbClr val="266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7830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62D9"/>
                </a:solidFill>
                <a:latin typeface="Aptos"/>
              </a:rPr>
              <a:t>100.0%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Huawei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331720"/>
            <a:ext cx="512064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9000" y="2331720"/>
            <a:ext cx="5120640" cy="256032"/>
          </a:xfrm>
          <a:prstGeom prst="roundRect">
            <a:avLst/>
          </a:prstGeom>
          <a:solidFill>
            <a:srgbClr val="266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2860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62D9"/>
                </a:solidFill>
                <a:latin typeface="Aptos"/>
              </a:rPr>
              <a:t>100.0%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88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GitLab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834640"/>
            <a:ext cx="512064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9000" y="2834640"/>
            <a:ext cx="4070908" cy="25603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788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79.5%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91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Made Tech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337560"/>
            <a:ext cx="512064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29000" y="3337560"/>
            <a:ext cx="3430828" cy="25603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67.0%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947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Basecamp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840480"/>
            <a:ext cx="512064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9000" y="3840480"/>
            <a:ext cx="2841955" cy="25603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37947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55.5%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97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Valve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343400"/>
            <a:ext cx="512064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29000" y="4343400"/>
            <a:ext cx="2048255" cy="25603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297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40.0%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1325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662D9"/>
                </a:solidFill>
                <a:latin typeface="Aptos"/>
              </a:rPr>
              <a:t>1084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1828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37085"/>
                </a:solidFill>
                <a:latin typeface="Aptos"/>
              </a:rPr>
              <a:t>clean chunks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D3A3A"/>
                </a:solidFill>
                <a:latin typeface="Aptos"/>
              </a:rPr>
              <a:t>224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926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37085"/>
                </a:solidFill>
                <a:latin typeface="Aptos"/>
              </a:rPr>
              <a:t>eval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840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21C2D"/>
                </a:solidFill>
                <a:latin typeface="Aptos"/>
              </a:rPr>
              <a:t>语料覆盖中文 600 / 英文 484；来源包括公开 PDF 680、公开 HTML 270、本地手册 134。评测包含正常问题、用户注入、跨公司污染、自适应修订和检索文档投毒。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威胁模型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攻击者可以控制用户问题，也可能污染待检索文档。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64207"/>
            <a:ext cx="1636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D3A3A"/>
                </a:solidFill>
                <a:latin typeface="Aptos"/>
              </a:rPr>
              <a:t>用户问题注入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11680"/>
            <a:ext cx="1636776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忽略规则、改变格式、伪造政策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150876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1664207"/>
            <a:ext cx="1636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8D2D"/>
                </a:solidFill>
                <a:latin typeface="Aptos"/>
              </a:rPr>
              <a:t>凭证索取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011680"/>
            <a:ext cx="1636776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密码、API key、访问令牌、系统提示词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21224" y="150876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5816" y="1664207"/>
            <a:ext cx="1636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49BE"/>
                </a:solidFill>
                <a:latin typeface="Aptos"/>
              </a:rPr>
              <a:t>跨公司污染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2011680"/>
            <a:ext cx="1636776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用 A 公司政策回答 B 公司问题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936" y="150876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7" y="1664207"/>
            <a:ext cx="1636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自适应修订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7" y="2011680"/>
            <a:ext cx="1636776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伪装“最新高管批准政策”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1508760"/>
            <a:ext cx="1965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664207"/>
            <a:ext cx="1636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965C"/>
                </a:solidFill>
                <a:latin typeface="Aptos"/>
              </a:rPr>
              <a:t>检索文档投毒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011680"/>
            <a:ext cx="1636776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恶意 chunk 被检索进入上下文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C2D"/>
                </a:solidFill>
                <a:latin typeface="Aptos"/>
              </a:rPr>
              <a:t>安全目标：只基于目标企业允许来源中的可信证据回答；不得泄露敏感信息；不得引用投毒、跨公司或不存在的证据。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EnterpriseRAG-Guard 防御链路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不是简单关键词过滤，而是从查询、检索、证据到输出逐层约束。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66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62D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915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风险检测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73352" y="2414016"/>
            <a:ext cx="219456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20240" y="20574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66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1488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62D9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35915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企业 Profile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90672" y="2414016"/>
            <a:ext cx="219456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37560" y="20574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66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488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62D9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5915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安全检索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07992" y="2414016"/>
            <a:ext cx="219456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54880" y="20574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66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1488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62D9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35915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证据隔离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25312" y="2414016"/>
            <a:ext cx="219456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72200" y="20574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66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62D9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5915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Claim 抽取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42631" y="2414016"/>
            <a:ext cx="219457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89520" y="20574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66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21488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62D9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35915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答案生成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59952" y="2414016"/>
            <a:ext cx="219456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06840" y="20574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66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1488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62D9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35915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引用验证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77272" y="2414016"/>
            <a:ext cx="219456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424160" y="205740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66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21488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62D9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880" y="235915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修复/拒答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36576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381304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确定性边界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4160520"/>
            <a:ext cx="2962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company_id、allowed_sources、source_host、content_hash、citation_id。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36576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1" y="381304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49BE"/>
                </a:solidFill>
                <a:latin typeface="Aptos"/>
              </a:rPr>
              <a:t>语义隔离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9431" y="4160520"/>
            <a:ext cx="2962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query risk、chunk risk、instruction/evidence isolation、extractor-generator。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36576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381304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965C"/>
                </a:solidFill>
                <a:latin typeface="Aptos"/>
              </a:rPr>
              <a:t>输出验证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4160520"/>
            <a:ext cx="2962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引用存在性、跨公司检测、投毒引用、敏感信息和拒答。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B0-B7 消融实验结果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完整防御将攻击成功率从 89.3% 降至 25.0%。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B0 Attack Success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5852160" cy="34747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5225393" cy="347472"/>
          </a:xfrm>
          <a:prstGeom prst="roundRect">
            <a:avLst/>
          </a:prstGeom>
          <a:solidFill>
            <a:srgbClr val="C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D3A3A"/>
                </a:solidFill>
                <a:latin typeface="Aptos"/>
              </a:rPr>
              <a:t>89.3%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B7 Attack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057400"/>
            <a:ext cx="5852160" cy="34747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2057400"/>
            <a:ext cx="1463040" cy="34747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011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25.0%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B0 Citation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880360"/>
            <a:ext cx="5852160" cy="34747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2880360"/>
            <a:ext cx="3422343" cy="347472"/>
          </a:xfrm>
          <a:prstGeom prst="roundRect">
            <a:avLst/>
          </a:prstGeom>
          <a:solidFill>
            <a:srgbClr val="C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D3A3A"/>
                </a:solidFill>
                <a:latin typeface="Aptos"/>
              </a:rPr>
              <a:t>58.5%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B7 Citation Error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520440"/>
            <a:ext cx="5852160" cy="34747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0440" y="3520440"/>
            <a:ext cx="0" cy="34747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3474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0.0%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37160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1527048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965C"/>
                </a:solidFill>
                <a:latin typeface="Aptos"/>
              </a:rPr>
              <a:t>ASR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1874519"/>
            <a:ext cx="2871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64.29 percentage 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7889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2944368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Poison survival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3291839"/>
            <a:ext cx="2871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B0: 100% → B7: 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20624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4361688"/>
            <a:ext cx="2871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49BE"/>
                </a:solidFill>
                <a:latin typeface="Aptos"/>
              </a:rPr>
              <a:t>Normal tasks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4709159"/>
            <a:ext cx="28712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B7 reached 100% in this benchmark; this is a prototype metric, not universal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按攻击面分析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文档侧攻击被显著压制，用户侧注入仍是主要残余风险。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  <a:latin typeface="Aptos"/>
              </a:rPr>
              <a:t>adaptive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2801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325880"/>
            <a:ext cx="338328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49240" y="1325880"/>
            <a:ext cx="2899809" cy="256032"/>
          </a:xfrm>
          <a:prstGeom prst="roundRect">
            <a:avLst/>
          </a:prstGeom>
          <a:solidFill>
            <a:srgbClr val="C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280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D3A3A"/>
                </a:solidFill>
                <a:latin typeface="Aptos"/>
              </a:rPr>
              <a:t>85.7%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2801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325880"/>
            <a:ext cx="338328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64040" y="1325880"/>
            <a:ext cx="0" cy="25603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0" y="1280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31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  <a:latin typeface="Aptos"/>
              </a:rPr>
              <a:t>cross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2331720"/>
            <a:ext cx="338328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49240" y="2331720"/>
            <a:ext cx="2513438" cy="256032"/>
          </a:xfrm>
          <a:prstGeom prst="roundRect">
            <a:avLst/>
          </a:prstGeom>
          <a:solidFill>
            <a:srgbClr val="C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2860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D3A3A"/>
                </a:solidFill>
                <a:latin typeface="Aptos"/>
              </a:rPr>
              <a:t>74.3%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286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2331720"/>
            <a:ext cx="338328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2331720"/>
            <a:ext cx="0" cy="25603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0" y="22860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  <a:latin typeface="Aptos"/>
              </a:rPr>
              <a:t>retrieved doc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291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3337560"/>
            <a:ext cx="338328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9240" y="3337560"/>
            <a:ext cx="2899809" cy="256032"/>
          </a:xfrm>
          <a:prstGeom prst="roundRect">
            <a:avLst/>
          </a:prstGeom>
          <a:solidFill>
            <a:srgbClr val="C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D3A3A"/>
                </a:solidFill>
                <a:latin typeface="Aptos"/>
              </a:rPr>
              <a:t>85.7%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91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3337560"/>
            <a:ext cx="338328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64040" y="3337560"/>
            <a:ext cx="0" cy="25603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84480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0.0%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1C2D"/>
                </a:solidFill>
                <a:latin typeface="Aptos"/>
              </a:rPr>
              <a:t>user 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297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49240" y="4343400"/>
            <a:ext cx="338328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49240" y="4343400"/>
            <a:ext cx="3383280" cy="256032"/>
          </a:xfrm>
          <a:prstGeom prst="roundRect">
            <a:avLst/>
          </a:prstGeom>
          <a:solidFill>
            <a:srgbClr val="C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4297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D3A3A"/>
                </a:solidFill>
                <a:latin typeface="Aptos"/>
              </a:rPr>
              <a:t>100.0%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97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1C2D"/>
                </a:solidFill>
                <a:latin typeface="Aptos"/>
              </a:rPr>
              <a:t>B7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64040" y="4343400"/>
            <a:ext cx="3383280" cy="256032"/>
          </a:xfrm>
          <a:prstGeom prst="round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64040" y="4343400"/>
            <a:ext cx="2029968" cy="256032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84480" y="4297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965C"/>
                </a:solidFill>
                <a:latin typeface="Aptos"/>
              </a:rPr>
              <a:t>60.0%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C2D"/>
                </a:solidFill>
                <a:latin typeface="Aptos"/>
              </a:rPr>
              <a:t>结论：来源感知检索、隔离与引用验证对跨公司污染和文档投毒最有效；用户问题攻击需要更强语义检测与人工校准。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产品化架构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从预装数据原型升级为可接入客户数据的安全平台。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7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Connector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77439"/>
            <a:ext cx="2093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上传文本 / 公网 URL / SharePoint / Confluence / API / Vector DB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18104" y="2834640"/>
            <a:ext cx="329184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874519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029967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49BE"/>
                </a:solidFill>
                <a:latin typeface="Aptos"/>
              </a:rPr>
              <a:t>Secure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77439"/>
            <a:ext cx="2093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来源校验、文本抽取、注入扫描、敏感字段检测、隔离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07024" y="2834640"/>
            <a:ext cx="329184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874519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029967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965C"/>
                </a:solidFill>
                <a:latin typeface="Aptos"/>
              </a:rPr>
              <a:t>Tenant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377439"/>
            <a:ext cx="2093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租户隔离索引、Profile、allowed sources、风险阈值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95944" y="2834640"/>
            <a:ext cx="329184" cy="0"/>
          </a:xfrm>
          <a:prstGeom prst="line">
            <a:avLst/>
          </a:prstGeom>
          <a:ln w="25400">
            <a:solidFill>
              <a:srgbClr val="266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1874519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1" y="2029967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D3A3A"/>
                </a:solidFill>
                <a:latin typeface="Aptos"/>
              </a:rPr>
              <a:t>Guard Data Plane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1" y="2377439"/>
            <a:ext cx="2093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每次请求执行检索、隔离、生成、验证、拒答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1C2D"/>
                </a:solidFill>
                <a:latin typeface="Aptos"/>
              </a:rPr>
              <a:t>公网部署：Render Starter + 1GB persistent disk + DeepSeek + 百炼 Embedding；新接入租户写入 /app/data/tenant_agents。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网站功能设计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面向员工、红队、管理员三类用户。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965C"/>
                </a:solidFill>
                <a:latin typeface="Aptos"/>
              </a:rPr>
              <a:t>员工查询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30083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选择企业与语言，提出 HR、IT、合规、社会责任等问题。答案必须带可信引用，并展示安全链路。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72768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D3A3A"/>
                </a:solidFill>
                <a:latin typeface="Aptos"/>
              </a:rPr>
              <a:t>攻击挑战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920240"/>
            <a:ext cx="30083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输入恶意问题或投毒片段，对比 Control 和 Secure Agent，展示可信证据与隔离区。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72768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企业接入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20240"/>
            <a:ext cx="30083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管理员提交资料或公开 URL，系统扫描风险、切块、写入租户索引并生成 Profile。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4864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62D9"/>
                </a:solidFill>
                <a:latin typeface="Aptos"/>
              </a:rPr>
              <a:t>公网地址：https://enterprise-rag-guard-deploy.onrender.com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公网实测结果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部署不是静态页面，后端 API 与真实接入链路已验证。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8132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/api/meta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31455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返回 7 家预置企业 + 新接入 KnowledgeDemo，生成模式为 Guard + DeepSeek + 双语改写 + 百炼Embedding。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48132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965C"/>
                </a:solidFill>
                <a:latin typeface="Aptos"/>
              </a:rPr>
              <a:t>BYD 查询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28800"/>
            <a:ext cx="31455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Secure Agent 引用 BY0125、BY0184，隔离 PX_BYD_001/002/003 投毒片段。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48132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49BE"/>
                </a:solidFill>
                <a:latin typeface="Aptos"/>
              </a:rPr>
              <a:t>企业接入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828800"/>
            <a:ext cx="31455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KnowledgeDemo 文档被接受并写入 chunk，可立即查询，引用 KNOWLEDGEDEMO_0F4A64_DOC001_001。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1C2D"/>
                </a:solidFill>
                <a:latin typeface="Aptos"/>
              </a:rPr>
              <a:t>这证明企业接入不是前端模拟：/api/onboard 会调用 SecureIngestionPipeline，生成 TenantProfile，写入持久化 chunks.csv/profiles.json，然后重建 Guard。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局限性与下一步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主动说明边界，比只报高指标更可信。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27048"/>
            <a:ext cx="4562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8D2D"/>
                </a:solidFill>
                <a:latin typeface="Aptos"/>
              </a:rPr>
              <a:t>评测规模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74519"/>
            <a:ext cx="4562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224 题适合原型消融，后续需扩大并加入人工标注。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527048"/>
            <a:ext cx="4562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D3A3A"/>
                </a:solidFill>
                <a:latin typeface="Aptos"/>
              </a:rPr>
              <a:t>权限控制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874519"/>
            <a:ext cx="4562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当前未实现真实 SSO/RBAC/文档 ACL，生产环境必须先做权限过滤。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2900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584448"/>
            <a:ext cx="4562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49BE"/>
                </a:solidFill>
                <a:latin typeface="Aptos"/>
              </a:rPr>
              <a:t>语义检测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31920"/>
            <a:ext cx="4562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规则检测可解释但可能被改写绕过，需要分类器和 NLI 验证器。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2900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584448"/>
            <a:ext cx="4562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企业数据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931920"/>
            <a:ext cx="4562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公开资料是代理知识库，真实部署需接入客户内部数据并做安全测试。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从 RAG 复现实验到企业级安全 Agent 原型。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62D9"/>
                </a:solidFill>
                <a:latin typeface="Aptos"/>
              </a:rPr>
              <a:t>一句话总结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21C2D"/>
                </a:solidFill>
                <a:latin typeface="Aptos"/>
              </a:rPr>
              <a:t>EnterpriseRAG-Guard 让每家企业保留自己的知识边界，同时复用一套可解释、可评估、可部署的 RAG 安全核心。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886200"/>
            <a:ext cx="1417320" cy="320040"/>
          </a:xfrm>
          <a:prstGeom prst="roundRect">
            <a:avLst/>
          </a:prstGeom>
          <a:solidFill>
            <a:srgbClr val="266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9502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多企业语料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886200"/>
            <a:ext cx="1417320" cy="320040"/>
          </a:xfrm>
          <a:prstGeom prst="roundRect">
            <a:avLst/>
          </a:prstGeom>
          <a:solidFill>
            <a:srgbClr val="15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39502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分层防御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886200"/>
            <a:ext cx="1417320" cy="320040"/>
          </a:xfrm>
          <a:prstGeom prst="roundRect">
            <a:avLst/>
          </a:prstGeom>
          <a:solidFill>
            <a:srgbClr val="6F4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9502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消融评估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886200"/>
            <a:ext cx="1417320" cy="320040"/>
          </a:xfrm>
          <a:prstGeom prst="roundRect">
            <a:avLst/>
          </a:prstGeom>
          <a:solidFill>
            <a:srgbClr val="CD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9502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公网产品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C2D"/>
                </a:solidFill>
                <a:latin typeface="Aptos"/>
              </a:rPr>
              <a:t>B7 将 ASR 从 89.3% 降至 25.0%，并把引用错误率和投毒存活率降至 0。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2D9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2860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C2D"/>
                </a:solidFill>
                <a:latin typeface="Aptos"/>
              </a:rPr>
              <a:t>演示视频与公网入口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49808"/>
            <a:ext cx="9601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7085"/>
                </a:solidFill>
                <a:latin typeface="Aptos"/>
              </a:rPr>
              <a:t>最后一页可插入你录制的网站使用视频。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6492240" cy="3977639"/>
          </a:xfrm>
          <a:prstGeom prst="roundRect">
            <a:avLst/>
          </a:prstGeom>
          <a:solidFill>
            <a:srgbClr val="EEF2F8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37085"/>
                </a:solidFill>
                <a:latin typeface="Aptos"/>
              </a:rPr>
              <a:t>在这里插入网站演示视频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204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37085"/>
                </a:solidFill>
                <a:latin typeface="Aptos"/>
              </a:rPr>
              <a:t>建议录制：员工查询 → 攻击挑战 → 查看 Trace/隔离区 → 企业接入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41732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572768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662D9"/>
                </a:solidFill>
                <a:latin typeface="Aptos"/>
              </a:rPr>
              <a:t>公网网址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1920240"/>
            <a:ext cx="3099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https://enterprise-rag-guard-deploy.onrender.com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97180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3127248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965C"/>
                </a:solidFill>
                <a:latin typeface="Aptos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3474720"/>
            <a:ext cx="3099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qiaoqiaoyining-source/enterprise-rag-guard-deploy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526280"/>
            <a:ext cx="3429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4681728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49BE"/>
                </a:solidFill>
                <a:latin typeface="Aptos"/>
              </a:rPr>
              <a:t>答辩顺序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5029200"/>
            <a:ext cx="3099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21C2D"/>
                </a:solidFill>
                <a:latin typeface="Aptos"/>
              </a:rPr>
              <a:t>先正常问答，再攻击挑战，最后展示企业接入。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