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14e8ab9ca4077" /><Relationship Type="http://schemas.openxmlformats.org/officeDocument/2006/relationships/extended-properties" Target="/docProps/app.xml" Id="R5881e13988e34112" /><Relationship Type="http://schemas.openxmlformats.org/officeDocument/2006/relationships/officeDocument" Target="/ppt/presentation.xml" Id="Rd5bd32807b3d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4430ab90d74cde"/>
  </p:sldMasterIdLst>
  <p:notesMasterIdLst>
    <p:notesMasterId xmlns:r="http://schemas.openxmlformats.org/officeDocument/2006/relationships" r:id="R7f014276bde543ca"/>
  </p:notesMasterIdLst>
  <p:sldIdLst>
    <p:sldId xmlns:r="http://schemas.openxmlformats.org/officeDocument/2006/relationships" id="256" r:id="Ra6d955d556c94387"/>
    <p:sldId xmlns:r="http://schemas.openxmlformats.org/officeDocument/2006/relationships" id="257" r:id="R3624d49fe76046bb"/>
    <p:sldId xmlns:r="http://schemas.openxmlformats.org/officeDocument/2006/relationships" id="258" r:id="Rd6dc64bce2a94ee2"/>
    <p:sldId xmlns:r="http://schemas.openxmlformats.org/officeDocument/2006/relationships" id="259" r:id="R24c075a1b0534f56"/>
    <p:sldId xmlns:r="http://schemas.openxmlformats.org/officeDocument/2006/relationships" id="260" r:id="R96fd31890e6d442b"/>
    <p:sldId xmlns:r="http://schemas.openxmlformats.org/officeDocument/2006/relationships" id="261" r:id="Rb3938cba55ee45d9"/>
    <p:sldId xmlns:r="http://schemas.openxmlformats.org/officeDocument/2006/relationships" id="262" r:id="R11ebec222a074fe3"/>
    <p:sldId xmlns:r="http://schemas.openxmlformats.org/officeDocument/2006/relationships" id="263" r:id="R706494dae8154e65"/>
    <p:sldId xmlns:r="http://schemas.openxmlformats.org/officeDocument/2006/relationships" id="264" r:id="Rf625fee36d5a4d79"/>
    <p:sldId xmlns:r="http://schemas.openxmlformats.org/officeDocument/2006/relationships" id="265" r:id="R20515715be054d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430ab90d74cde" /><Relationship Type="http://schemas.openxmlformats.org/officeDocument/2006/relationships/theme" Target="/ppt/theme/theme1.xml" Id="Re849541f54c44178" /><Relationship Type="http://schemas.openxmlformats.org/officeDocument/2006/relationships/notesMaster" Target="/ppt/notesMasters/notesMaster1.xml" Id="R7f014276bde543ca" /><Relationship Type="http://schemas.openxmlformats.org/officeDocument/2006/relationships/presProps" Target="/ppt/presProps.xml" Id="Rc75217f343e74ce0" /><Relationship Type="http://schemas.openxmlformats.org/officeDocument/2006/relationships/viewProps" Target="/ppt/viewProps.xml" Id="Rf495720505b54764" /><Relationship Type="http://schemas.openxmlformats.org/officeDocument/2006/relationships/tableStyles" Target="/ppt/tableStyles.xml" Id="R27ab19faee2e46a4" /><Relationship Type="http://schemas.openxmlformats.org/officeDocument/2006/relationships/slide" Target="/ppt/slides/slide1.xml" Id="Ra6d955d556c94387" /><Relationship Type="http://schemas.openxmlformats.org/officeDocument/2006/relationships/slide" Target="/ppt/slides/slide2.xml" Id="R3624d49fe76046bb" /><Relationship Type="http://schemas.openxmlformats.org/officeDocument/2006/relationships/slide" Target="/ppt/slides/slide3.xml" Id="Rd6dc64bce2a94ee2" /><Relationship Type="http://schemas.openxmlformats.org/officeDocument/2006/relationships/slide" Target="/ppt/slides/slide4.xml" Id="R24c075a1b0534f56" /><Relationship Type="http://schemas.openxmlformats.org/officeDocument/2006/relationships/slide" Target="/ppt/slides/slide5.xml" Id="R96fd31890e6d442b" /><Relationship Type="http://schemas.openxmlformats.org/officeDocument/2006/relationships/slide" Target="/ppt/slides/slide6.xml" Id="Rb3938cba55ee45d9" /><Relationship Type="http://schemas.openxmlformats.org/officeDocument/2006/relationships/slide" Target="/ppt/slides/slide7.xml" Id="R11ebec222a074fe3" /><Relationship Type="http://schemas.openxmlformats.org/officeDocument/2006/relationships/slide" Target="/ppt/slides/slide8.xml" Id="R706494dae8154e65" /><Relationship Type="http://schemas.openxmlformats.org/officeDocument/2006/relationships/slide" Target="/ppt/slides/slide9.xml" Id="Rf625fee36d5a4d79" /><Relationship Type="http://schemas.openxmlformats.org/officeDocument/2006/relationships/slide" Target="/ppt/slides/slide10.xml" Id="R20515715be05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ec252a5fd944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2ba162fd94be1" /><Relationship Type="http://schemas.openxmlformats.org/officeDocument/2006/relationships/notesMaster" Target="/ppt/notesMasters/notesMaster1.xml" Id="Ra10510f9105d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99587f2a9470a" /><Relationship Type="http://schemas.openxmlformats.org/officeDocument/2006/relationships/notesMaster" Target="/ppt/notesMasters/notesMaster1.xml" Id="R2f60941763bb42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d50ed2835459c" /><Relationship Type="http://schemas.openxmlformats.org/officeDocument/2006/relationships/notesMaster" Target="/ppt/notesMasters/notesMaster1.xml" Id="R765d148fd1a5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46913afda944fe" /><Relationship Type="http://schemas.openxmlformats.org/officeDocument/2006/relationships/notesMaster" Target="/ppt/notesMasters/notesMaster1.xml" Id="Rf693ec18ddd048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7f4cec9af4cc4" /><Relationship Type="http://schemas.openxmlformats.org/officeDocument/2006/relationships/notesMaster" Target="/ppt/notesMasters/notesMaster1.xml" Id="Rd535c9d2013341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48433148c644f8" /><Relationship Type="http://schemas.openxmlformats.org/officeDocument/2006/relationships/notesMaster" Target="/ppt/notesMasters/notesMaster1.xml" Id="R6ac0bf37b67e4e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0397e1d1d94bbe" /><Relationship Type="http://schemas.openxmlformats.org/officeDocument/2006/relationships/notesMaster" Target="/ppt/notesMasters/notesMaster1.xml" Id="R5041b737115743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dba07a3b040aa" /><Relationship Type="http://schemas.openxmlformats.org/officeDocument/2006/relationships/notesMaster" Target="/ppt/notesMasters/notesMaster1.xml" Id="R2bdf5172187640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da93defa7d41ac" /><Relationship Type="http://schemas.openxmlformats.org/officeDocument/2006/relationships/notesMaster" Target="/ppt/notesMasters/notesMaster1.xml" Id="R69534525210c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9ac52dd7ad4d56" /><Relationship Type="http://schemas.openxmlformats.org/officeDocument/2006/relationships/notesMaster" Target="/ppt/notesMasters/notesMaster1.xml" Id="R48e5095acfaa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000f4726648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c4b5fb863f84ce2" /><Relationship Type="http://schemas.openxmlformats.org/officeDocument/2006/relationships/slideLayout" Target="/ppt/slideLayouts/slideLayout2.xml" Id="R52591e467d6741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91e467d6741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ec320a86b4c64" /><Relationship Type="http://schemas.openxmlformats.org/officeDocument/2006/relationships/notesSlide" Target="/ppt/notesSlides/notesSlide1.xml" Id="R4308f923a101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c60588c534a2d" /><Relationship Type="http://schemas.openxmlformats.org/officeDocument/2006/relationships/notesSlide" Target="/ppt/notesSlides/notesSlide2.xml" Id="R7a6668fb90f5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25157c90a48f5" /><Relationship Type="http://schemas.openxmlformats.org/officeDocument/2006/relationships/notesSlide" Target="/ppt/notesSlides/notesSlide3.xml" Id="R6b51429d74ec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d3cc856fd4ca7" /><Relationship Type="http://schemas.openxmlformats.org/officeDocument/2006/relationships/notesSlide" Target="/ppt/notesSlides/notesSlide4.xml" Id="R1ba89703bc614b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ba49947e344057" /><Relationship Type="http://schemas.openxmlformats.org/officeDocument/2006/relationships/notesSlide" Target="/ppt/notesSlides/notesSlide5.xml" Id="R82eeeb746a5b4a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96d88b6ce04b09" /><Relationship Type="http://schemas.openxmlformats.org/officeDocument/2006/relationships/notesSlide" Target="/ppt/notesSlides/notesSlide6.xml" Id="R82a3d38b881948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22b4ce6fa14b9c" /><Relationship Type="http://schemas.openxmlformats.org/officeDocument/2006/relationships/notesSlide" Target="/ppt/notesSlides/notesSlide7.xml" Id="Rc13282cc5ae3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353772db24ff9" /><Relationship Type="http://schemas.openxmlformats.org/officeDocument/2006/relationships/notesSlide" Target="/ppt/notesSlides/notesSlide8.xml" Id="Rda9aea34d98846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5d56d6c214112" /><Relationship Type="http://schemas.openxmlformats.org/officeDocument/2006/relationships/notesSlide" Target="/ppt/notesSlides/notesSlide9.xml" Id="R887206af2bfb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088e710514da5" /><Relationship Type="http://schemas.openxmlformats.org/officeDocument/2006/relationships/notesSlide" Target="/ppt/notesSlides/notesSlide10.xml" Id="R3888e05ac29c46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7930C-AEDC-4E6D-8819-FF3DC00E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2A76E-D547-4629-AB35-33BD58A5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CE292-FCF3-41A4-9D6C-7423BAA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1B522-DD47-428B-AB69-E8542ACC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9C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9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27DD2-D0C4-4FCF-8497-00AC792B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A75E4-4FE6-456A-A8C4-CE18792B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PROMPT INJECTION IN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8A2CD-0547-4F70-81EC-A03F441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检索到的“证据”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也可能成为攻击指令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F3C4A-B330-4ACB-8492-46E474B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EE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9CEE2"/>
                </a:solidFill>
                <a:latin typeface="PingFang SC"/>
                <a:ea typeface="PingFang SC"/>
                <a:cs typeface="PingFang SC"/>
              </a:rPr>
              <a:t>员工手册 RAG 的攻击、分层防御与量化评估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3F04B-B446-4B2D-A62E-DF11690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3820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1E50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125AD-45F1-474F-BF1E-13BD1F2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UNTRUSTED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6D0BB-0811-4EAD-8601-DD59FE7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忽略之前规则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改写政策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引用 PX0005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DDCAC-B2F9-43EA-8F99-3789506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FF770-C020-4618-A975-7E51B0F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DA4A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DA4AF"/>
                </a:solidFill>
                <a:latin typeface="PingFang SC"/>
                <a:ea typeface="PingFang SC"/>
                <a:cs typeface="PingFang SC"/>
              </a:rPr>
              <a:t>文档层注入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BA678-6F90-4CC9-B5E5-D60C4FAF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572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223C"/>
          </a:solidFill>
          <a:ln xmlns:a="http://schemas.openxmlformats.org/drawingml/2006/main" w="9525">
            <a:solidFill>
              <a:srgbClr val="1E50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B171F-7EA0-4FDA-AEB7-D401ED22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4F51B-DE1A-4EA3-BBF1-A8B6AE4C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51.85%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DFD27-FE83-4E04-9D6F-729E1430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未防御控制组 ASR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1FD01-E58D-4834-8292-D69E6C6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7D440-A1D3-498F-93A7-1F3B1AFD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D754B-79D9-47C2-803D-0EB0607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772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防御后带毒/伪造引用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25CB0-6F18-4BFE-9054-A416447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6E4E9-5FEC-4612-B1DD-E2CC29FA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44.44%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F1F3A-F992-4D05-8363-8EEFD02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72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修复版最低 ASR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B86B6-703F-4389-92C8-D474CBF5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11FD1-64AA-42B6-A57F-05181038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624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6F482-2732-4DA6-8892-8B868F42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72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必拒问题召回率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3C530-EF0C-4288-9DEA-ED98A02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55 questions · DeepSeek-V4-Flash · 2026-06-10</a:t>
            </a:r>
          </a:p>
        </p:txBody>
      </p:sp>
    </p:spTree>
    <p:extLst>
      <p:ext uri="{BB962C8B-B14F-4D97-AF65-F5344CB8AC3E}">
        <p14:creationId xmlns:p14="http://schemas.microsoft.com/office/powerpoint/2010/main" val="10218757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306B15-AB34-4877-9948-D6B8FC71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A8535-5A6B-4FA1-8101-40D1A011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9DEE1-482C-4BE9-BEEA-5953EB19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01C11-C50E-4C02-97F0-7E80408C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CD8A3-5027-48EF-A391-B69E68E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51268-7ADB-45D2-8E25-8B33282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威胁模型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78782-3F73-46F6-85D7-CE85B5A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攻击可以从用户问题、检索文档，或两者同时进入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3960F-D65C-4461-BDF9-49CC423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81C7-10C7-4C7E-ACA3-958509EB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用户问题注入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E62F0-7103-42F1-8CBF-804ED778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209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15 条</a:t>
            </a:r>
          </a:p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覆盖规则改写、权限冒充、凭据和隐私请求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05389-7ED8-45A8-A5A9-24B8C038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59235-FF40-45E8-8F42-7F4CE85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检索文档注入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6CADB-410E-4CDD-8BF9-247D848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209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10 条</a:t>
            </a:r>
          </a:p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带毒内部备注进入 top-k 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06E7F-EF65-42A5-96EB-62DD11C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92793-4079-4AA6-8C60-E03F8BA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813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 检索器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E002E-D01F-4F0D-BD2E-FB5A744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TF-IDF / BM25 / Hybrid / Embedding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4225A-F36F-49B3-9798-02B66EE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8E475-6BF6-4244-AC25-22DB432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813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LLM 生成器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46EBD-A325-4C41-88F0-0782BB7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828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把问题与检索文本共同解释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E4E8D-3DB2-4B86-9920-903F108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1285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8EBE2-D269-4073-A02E-6A233791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81325"/>
            <a:ext cx="1019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最终回答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BBC21-EB24-442F-8F7A-2BA9183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57550"/>
            <a:ext cx="10191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rPr>
              <a:t>政策结论 + 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FC222-8FB4-4ED5-8B48-DE7CA233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2B300-B4D8-44A9-AE57-F3BAE6F9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D3816-ED8C-4B6E-8888-A23FE235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9105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C40FF-F819-4EF5-897D-8BE91A9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434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0CE8A-6F28-4062-912B-84C4EB66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B80AD-B37B-47F2-BCFA-89DCF947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E53C7-1072-4095-99BD-C65C40B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1203D-BA54-4467-8271-7C05111F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9DC48-F6AC-4743-B354-2F4B64E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5505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F733CD-90CA-4864-AEE9-F8238661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混合攻击 ×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93A10-4C33-4386-BC92-BFAE9399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292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恶意用户提示与带毒检索结果共同施压，是当前最难场景。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EAF2F-7228-4F49-B43F-80E4E7B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Source: questions/evaluation_questions_v2.csv</a:t>
            </a:r>
          </a:p>
        </p:txBody>
      </p:sp>
    </p:spTree>
    <p:extLst>
      <p:ext uri="{BB962C8B-B14F-4D97-AF65-F5344CB8AC3E}">
        <p14:creationId xmlns:p14="http://schemas.microsoft.com/office/powerpoint/2010/main" val="1190268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46015-CBE2-4618-B034-17F4AA4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0AE75-2B59-43E1-A33F-DA744A9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2EC67-9FC2-454B-BB38-7E805E0E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63787-90D2-46A0-AF49-69B3190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7AFB-EC4B-408A-97F1-8FE87DC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5FE9D-039A-42AF-9218-081CDAC1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实验设计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D3A3A-F877-4FCE-A888-874E966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小而完整的标注集同时测量正常效用、攻击安全和拒答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582E5-9F31-4D42-B82F-49CBE40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88FC2-B1B0-4CAF-BFF8-C43B3E5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E1ED1-6BBA-471A-9CF8-5B148ACB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干净知识块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44F1-B705-43EE-B4D8-975776DC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0A7D9-B558-4709-B216-F144C0F6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71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C9C5F-2494-4E19-97FF-9280078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81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合成带毒知识块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694DA-EFE7-4922-8712-4C73B56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782C9-1EBF-4798-B019-8A6E567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71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7E80A-B385-4400-9E23-53A2FA5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81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评估问题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CE797-1806-408C-96A5-587FC3B3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9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ECA56-E794-4D93-BF8C-33C8BA8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71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0D792-9A65-4A8A-85C9-8494FE0E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必须拒答问题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771C9-5189-41F0-9255-F9EADF7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问题构成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59231-85D4-4474-BD4F-387C280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38249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FB671-5D8A-413B-AF99-5C9C567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091" y="3143250"/>
            <a:ext cx="2883477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06076-FB71-45EF-9CA8-913B83C3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568" y="3143250"/>
            <a:ext cx="192231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2298A-5806-4D94-BA7A-72EA10F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886" y="3143250"/>
            <a:ext cx="38446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FD9FA-FCB0-4771-B1DD-9D6FE4D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正常 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B19AD-3154-487B-BBC5-F3E080A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491" y="3333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用户注入 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99F7F-BCEE-461E-A274-51DDF32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868" y="3333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文档注入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8FF55-8572-44B1-A37C-606CA1F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886" y="3333750"/>
            <a:ext cx="38446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混合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2E4D2-478E-4EF5-9767-FFCDCD2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攻击强度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7EADB-857C-43AE-88DB-B969CC3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86A2D-9710-4BC6-B366-A93FD45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低强度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975AD6-108C-4D1E-8AA3-E73A764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196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9E81E6-0D96-4126-8A1F-1D526C0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2FB27-E57A-4FAE-98C8-71FEB08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33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中强度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D13640-B5BE-41C1-B54A-723B5DC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EA580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580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240DF3-8CA3-44D7-9D14-0D499FA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62500"/>
            <a:ext cx="3028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E5908-E862-432D-9BA2-6944E2D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高强度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11B47-1437-4315-9664-73B8146C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196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7A2306-69B2-420B-8641-64855FC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Gold answers + gold chunk IDs + surface + strength + refusal labels</a:t>
            </a:r>
          </a:p>
        </p:txBody>
      </p:sp>
    </p:spTree>
    <p:extLst>
      <p:ext uri="{BB962C8B-B14F-4D97-AF65-F5344CB8AC3E}">
        <p14:creationId xmlns:p14="http://schemas.microsoft.com/office/powerpoint/2010/main" val="1862984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E67B3-9FBB-47DD-B6C6-16E86128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0C909-2B8E-414C-AD0E-A41EDAA6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799FF-71F9-4B3B-92A6-C13249CB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C1007-9150-4AD1-B757-B4345691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178E0-C7C1-493B-A7AF-A1BD4794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1D122-6468-4FB6-A083-0D7B81E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控制组选择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B1CE6-2F78-4E5B-9CA3-63A863E8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TF-IDF + LLM 在已完成的无防御基线中综合得分最高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E66C2-A9EE-43A1-866D-5ED2EFD2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rag4 · TF-IDF +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4DD76-893F-41D6-A044-E08E120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C8856-FB0D-4AD4-80AE-D536D78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3356362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E3FAD-6098-460D-95C8-7E6038B5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61.8%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7A5BF-C595-49D7-A881-B2F718D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rag5 · BM25 +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CD100-8BD1-44DE-B40F-0F2FC786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5218B-D4D9-416C-B178-C19BD39B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3158738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5C756-4E90-42C5-8610-4D90B209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58.2%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C03AF-CB69-4EF3-8302-3062D3C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rag6 · Hybrid +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86D2C-D7E0-4FBA-877C-4AB1897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610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CC505-9F41-44B6-97D8-CCC00C0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86100"/>
            <a:ext cx="30599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33F4B-A5EF-4B6F-9E7D-3B1C4C7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56.4%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47588-9104-4CC6-B417-3ED86EF8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rag7 · Embedding + 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80D79-8F59-401F-89E2-61F0B49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CD98D-3E22-4714-9683-4169B60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286284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9A5F9-C55E-409C-87DB-BD32D40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52.7%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94789-7C77-4C4D-BAD5-E72ACBA4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rag1 · TF-IDF 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11FF7-E9E1-4336-A1A8-DD25E57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6AA6A-FAB0-41DC-89BA-89F78A0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157936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696F6-E6F3-4C21-85EA-202BDAB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29.1%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DAB28-25E3-4A54-92E5-A73835E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rag2 · BM25 local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DDE09-A4C7-4CAE-985A-D47AA78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72050"/>
            <a:ext cx="542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9F7DF-4403-4B20-81F6-8C99007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72050"/>
            <a:ext cx="98812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49EE0-096C-4AD9-90C9-9BD15CA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1.8%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F3493D-9193-4E37-930B-67EA7F9E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24100" cy="3086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74836C-AF77-4223-998D-66A79CA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为什么选 rag4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EA95C-49B7-44B9-8FCE-E903BD8C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• 正常准确率 75.0%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• 整体代理分 61.82%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• 使用 LLM 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• 仍然没有任何防御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C50447-DFD7-4107-ACE0-1D99B537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控制组不是最复杂的模型，而是同一评估集上表现最强的未防御系统。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371C38-F82A-4F67-AEDB-5E0B9734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Source: outputs/experiment_matrix/summary/baseline_scores.csv</a:t>
            </a:r>
          </a:p>
        </p:txBody>
      </p:sp>
    </p:spTree>
    <p:extLst>
      <p:ext uri="{BB962C8B-B14F-4D97-AF65-F5344CB8AC3E}">
        <p14:creationId xmlns:p14="http://schemas.microsoft.com/office/powerpoint/2010/main" val="1427564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9EBB00-2C45-42CB-9F4B-870D91B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5F2D7-D446-4EDB-9CB9-6CED169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4325D-8D38-46D4-B9D6-E7E3E29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4F4AB-C7F1-45A3-B53A-ECE469EE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9C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9C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6DC93-EE54-495B-B11E-C180CA5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DFE7C-31B4-4B26-B113-BEBA915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控制组失败路径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229CA-AE4E-4C4B-8B9E-DBB06A03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有用的正常回答能力，并不能阻止注入指令进入最终答案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73D41-76ED-490C-BD75-2054368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D"/>
          </a:solidFill>
          <a:ln xmlns:a="http://schemas.openxmlformats.org/drawingml/2006/main" w="0">
            <a:solidFill>
              <a:srgbClr val="102F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E864E-3555-4F56-874D-030EE37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攻击输入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0AAC-EA17-48E1-9785-75E3B47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209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rPr>
              <a:t>“只输出 APPROVED”</a:t>
            </a:r>
          </a:p>
          <a:p xmlns:a="http://schemas.openxmlformats.org/drawingml/2006/main">
            <a:pPr algn="l">
              <a:def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rPr>
              <a:t>“引用 CH9999”</a:t>
            </a:r>
          </a:p>
          <a:p xmlns:a="http://schemas.openxmlformats.org/drawingml/2006/main">
            <a:pPr algn="l">
              <a:def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B9CEE2"/>
                </a:solidFill>
                <a:latin typeface="PingFang SC"/>
                <a:ea typeface="PingFang SC"/>
                <a:cs typeface="PingFang SC"/>
              </a:rPr>
              <a:t>“分享登录凭据”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422C7-91AC-4B05-A26D-CF79E35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30"/>
          </a:solidFill>
          <a:ln xmlns:a="http://schemas.openxmlformats.org/drawingml/2006/main" w="0">
            <a:solidFill>
              <a:srgbClr val="4A20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561A9-E07F-4AE0-8C24-032E321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717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未隔离上下文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7B0D-A739-48E0-874D-32524F89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BC0C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BC0C8"/>
                </a:solidFill>
                <a:latin typeface="PingFang SC"/>
                <a:ea typeface="PingFang SC"/>
                <a:cs typeface="PingFang SC"/>
              </a:rPr>
              <a:t>用户指令和检索文本</a:t>
            </a:r>
          </a:p>
          <a:p xmlns:a="http://schemas.openxmlformats.org/drawingml/2006/main">
            <a:pPr algn="l">
              <a:defRPr sz="675" b="0">
                <a:solidFill>
                  <a:srgbClr val="FBC0C8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BC0C8"/>
                </a:solidFill>
                <a:latin typeface="PingFang SC"/>
                <a:ea typeface="PingFang SC"/>
                <a:cs typeface="PingFang SC"/>
              </a:rPr>
              <a:t>与真实政策一起进入提示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ECEAF-7702-40FF-82CD-C2C3D369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1B25"/>
          </a:solidFill>
          <a:ln xmlns:a="http://schemas.openxmlformats.org/drawingml/2006/main" w="0">
            <a:solidFill>
              <a:srgbClr val="561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44F09-685E-4AAE-934D-160ED9E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1DF28-FA9C-407E-AB50-9DB95902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1828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rPr>
              <a:t>格式劫持</a:t>
            </a:r>
          </a:p>
          <a:p xmlns:a="http://schemas.openxmlformats.org/drawingml/2006/main">
            <a:pPr algn="l">
              <a:def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rPr>
              <a:t>伪造引用</a:t>
            </a:r>
          </a:p>
          <a:p xmlns:a="http://schemas.openxmlformats.org/drawingml/2006/main">
            <a:pPr algn="l">
              <a:def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DA4AF"/>
                </a:solidFill>
                <a:latin typeface="PingFang SC"/>
                <a:ea typeface="PingFang SC"/>
                <a:cs typeface="PingFang SC"/>
              </a:rPr>
              <a:t>带毒引用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B6771-1CB9-43BB-ACF9-656953B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47900"/>
            <a:ext cx="1285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DA3D3-95E3-4DF2-BAD3-8B7A2E4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71725"/>
            <a:ext cx="1019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观测结果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B56EC-210F-4A7A-A936-38E37EF0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47950"/>
            <a:ext cx="1019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条回答出现</a:t>
            </a:r>
          </a:p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带毒或伪造引用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53009-E9F3-4315-96E8-0CAFAF7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67025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449CE-2060-432E-9A46-BF6CBE74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194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A59C8-2C90-4CFF-A047-69053A4C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702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3896D-1B8A-4B80-9E77-D76FE4F7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6FE90-522A-4DE0-9A8C-4B7B5F8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670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2985D-85CF-4736-BA29-4879FC3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194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E4B8D-6300-403C-89B6-8175E279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1106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41"/>
          </a:solidFill>
          <a:ln xmlns:a="http://schemas.openxmlformats.org/drawingml/2006/main" w="9525">
            <a:solidFill>
              <a:srgbClr val="2448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2A7EB-A02F-4904-B8CD-ACEDEE1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关键判断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A7109-E249-4DD3-A127-AEB32E64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检索命中率高 ≠ 回答安全。攻击者只需让恶意文本看起来像相关证据。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BF212-D55F-426F-9B40-55141237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Examples: U007 format control · U009 citation tampering · U014 credential request</a:t>
            </a:r>
          </a:p>
        </p:txBody>
      </p:sp>
    </p:spTree>
    <p:extLst>
      <p:ext uri="{BB962C8B-B14F-4D97-AF65-F5344CB8AC3E}">
        <p14:creationId xmlns:p14="http://schemas.microsoft.com/office/powerpoint/2010/main" val="378164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00010-EBA7-494F-AE11-49D36B02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A7D8E-01CB-4C42-84C4-E749DEF4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88293-C6F1-43F2-8BD5-A77F93E5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E4EDF-54F9-4D79-8AB6-2D7C414A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35398-1E03-4FB5-B4E8-670803CB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0FF18-3069-47CE-B13A-1187AB82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分层防御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11E65-87A8-4725-A818-19421EA0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每一层解决不同失败模式，验证失败后才进入修复或拒答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B32C-2E72-4076-A9F0-735E5B10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75CEB-ECEB-4120-910E-0F58D3A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1 · 问题检测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38DCD-6E1A-42BA-B48C-ED87874C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识别凭据、隐私和恶意操作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8611B-3D43-41E8-9B88-EF41248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90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FC235-503F-4077-A727-56A252D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33F9B-511A-4405-8569-C19A643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56830-B24C-46FA-824F-11B3A3C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145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2 · 过检索 + 过滤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66807-A5DD-4327-A5EA-74F63A30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90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检索 3× top-k，阻断可疑块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D9CCC-865D-4E9C-83D3-9D0725C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94C29-B0D8-49A6-AFF3-ACCA380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487E0-8347-46CD-886E-3443F48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D1C59-0DB3-40AB-B873-4F4C11F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145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3 · 指令隔离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ADC2E-539E-4A00-8796-5306547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声明文档是不可信证据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46786-FB89-4A67-B488-CE2FCD66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90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37E8D-B5B3-486B-A33E-08852C6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2254A-A7FC-4535-8EBF-C2E3C8D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F892E-8415-44C1-B2D2-D23AB5C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145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4 · 引用验证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007A9-42CC-4699-B971-63ED936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90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只接受安全且有证据的引用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83A69-9989-4B9F-965F-26E56C5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90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60AA-564B-4424-953F-672A9293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7F663-D554-4D5D-8FE3-C71DC2C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E66BC-F910-42AD-BF37-48EE560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145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5 · 修复 / 拒答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3703D-2BBD-471A-85C6-0FD3AF1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单次修复；仍失败则拒答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BC53D9-F631-48B2-B8A0-BB135BA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019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79ABC-79BF-48D0-8265-71C31C4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VALIDATION CONTRACT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50EAD-1850-4D46-BF82-7D3C49E5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923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回答必须包含引用 · 引用必须来自安全检索块 · 关键主张需与证据重叠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FB698-DD9C-477E-9389-B8A10D0D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DA4A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DA4AF"/>
                </a:solidFill>
                <a:latin typeface="PingFang SC"/>
                <a:ea typeface="PingFang SC"/>
                <a:cs typeface="PingFang SC"/>
              </a:rPr>
              <a:t>失败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8D36AA-9DA9-4CFE-9685-E213397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9587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C97B2-9EA4-403F-B4F2-4E73C747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482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F81B7C-68AD-4512-AEC6-277DA17A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619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0F5742-14F2-497B-8CBA-34C3666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10125"/>
            <a:ext cx="352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拒答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43D303-DD22-418E-AD7B-7CF8C3E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086350"/>
            <a:ext cx="352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不输出未经验证的政策结论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EF8E1-66F7-4ABC-93A3-BA1CA9A9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Source: defended_variants.py</a:t>
            </a:r>
          </a:p>
        </p:txBody>
      </p:sp>
    </p:spTree>
    <p:extLst>
      <p:ext uri="{BB962C8B-B14F-4D97-AF65-F5344CB8AC3E}">
        <p14:creationId xmlns:p14="http://schemas.microsoft.com/office/powerpoint/2010/main" val="20476240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302E32-3D87-4F43-87EA-586E4AE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25BA8-F4D6-49A2-A2AA-4C78CC8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CFAF6-160F-44F9-9611-126D3E18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66D00-FC73-4401-92CE-F64E648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FE99-A6F2-4922-A971-32D921D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20B5D-6EBA-4D16-BF99-810A09EB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核心结果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5C33C-BE72-4A36-9E6E-24428F7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防御显著改善引用完整性，但牺牲正常问答效用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939F2-A14A-4140-9A7A-694BB2C2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正常准确率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76401-66CD-4A73-AFBA-E8812359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FBF2-7D27-4772-B1E9-8E5C025F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90040-9118-4A62-9952-A197086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138CF-A1D8-4B36-8169-236A540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7B6A3-7BF5-4044-A30B-21549D6B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B845C-4AA7-46C7-B1AD-07477A85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438150" cy="18573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3E1E1-0246-41F6-9DE0-33635BE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75.0%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93798-A39C-4B93-A36A-40AE4456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2817"/>
            <a:ext cx="438150" cy="1503483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1AA79-3A43-41CF-A51F-5998A33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60.7%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47EC4-9B0F-411B-A9B7-7B80669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1228"/>
            <a:ext cx="438150" cy="1415072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7C6A3-24D9-47C5-B21E-6FA5BE0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57.1%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400EF-A4E1-4C91-BE36-3CD9772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↑ 高更好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BF6EC-7B05-4FF2-8FB5-292F165B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攻击抵抗率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8A5271-C92A-4155-93DD-88F6979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FF441-6DC0-48E9-871A-E6DE241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2417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83030-2C95-4740-9797-67B55268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A66C73-A3ED-48FB-B7D4-70FF44E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529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247BF-F075-4331-AB4D-E01BD1C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67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7ECE5-78E8-47F9-BD03-2AA52581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93865"/>
            <a:ext cx="438150" cy="119243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791F3-AF2E-43FA-AC1D-9592F30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48.1%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DFB25-390E-4A52-ABA6-4F43CB9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2235"/>
            <a:ext cx="438150" cy="128406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904A5-E2C9-4670-83E2-3CBC9CDA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51.8%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172CB-E642-44FF-B2BA-C2CAABE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0357"/>
            <a:ext cx="438150" cy="1375943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5FB29-AEEA-4844-A417-6D0BCC4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55.6%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CB3426-7DB3-4351-8FDF-DE3E65F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↑ 高更好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BD385-FC48-4DC8-9144-B99226F8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引用错误率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575C11-A69C-444A-B46E-F3392323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282B65-D024-418A-8EDB-0DCA557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C140DC-9255-463F-9A6B-EFB4911E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7084B2-0654-41E5-ADE4-3F563323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EEC690-E07E-4656-B525-3337D6E3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2111E-308F-4435-A706-3F2B603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1649"/>
            <a:ext cx="438150" cy="484651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D8BF8-2E16-4723-8A3D-1435570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19.6%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142115-7E3D-4185-9C35-DB3E498B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36224"/>
            <a:ext cx="438150" cy="15007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D8235C-E477-491D-A09D-856F8A87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6.1%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C0BEDE-C8BB-439F-A21D-72E1FF38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8590"/>
            <a:ext cx="438150" cy="267710"/>
          </a:xfrm>
          <a:prstGeom xmlns:a="http://schemas.openxmlformats.org/drawingml/2006/main" prst="roundRect">
            <a:avLst>
              <a:gd name="adj" fmla="val 2846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B5771-FB0F-4A43-8831-12571C7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10.8%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E591F9-5380-4A89-B385-3BBC090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↓ 低更好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35ADA4-796D-47BD-A615-9BD043F1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拒答召回率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20A173-AE99-4CEE-85E5-A0C57DAC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684E85-955B-498B-8C5F-30169BA4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2417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8D482A-588A-4BA1-9A74-9FDFC8D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8DF0EE-CFFA-45C0-B536-170D1D2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5292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97D49B-E6BB-41E7-8F61-24798E87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6730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96B4CF-A8F4-4CA4-825A-D36C77E9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438150" cy="14859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CA13F8-6BE1-4D1E-A4D7-FC40F25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60.0%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368054-9B10-4E75-AE97-E01C4A01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9800"/>
            <a:ext cx="438150" cy="24765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FCA2A7-4398-4544-8A85-283FF4A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79113F-9639-408A-A678-4718732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09800"/>
            <a:ext cx="438150" cy="24765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8FD1C9-2A21-4442-AAD5-566FA7BE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7625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E5840B-5089-4956-9330-CB807F4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↑ 高更好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B768C0-984B-4220-858C-58201342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53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912FFD-5DF3-42C9-9063-6C1950C5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34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控制组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622957-3DC9-437D-BDC2-69306268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53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435C68-D534-4562-ACFA-6EA658B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34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完整防御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CF6ABF-C881-4EAD-8F68-5CCCD725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53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28AFDF-A317-4FFC-A707-69AA437D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734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修复版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1CD0D3-BC8F-4975-8327-C8BC194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Source: outputs/evaluation/run_metrics.csv</a:t>
            </a:r>
          </a:p>
        </p:txBody>
      </p:sp>
    </p:spTree>
    <p:extLst>
      <p:ext uri="{BB962C8B-B14F-4D97-AF65-F5344CB8AC3E}">
        <p14:creationId xmlns:p14="http://schemas.microsoft.com/office/powerpoint/2010/main" val="16460047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62D98-7BC6-4DBF-B84F-A184A16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E61CA-C3E4-4825-A748-5DC98A4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A17E0-7485-48D4-BF76-12EA2C0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CB786-23AC-4144-92A6-BF5DE098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D4401-4A8A-4FAB-AB00-8FE2297D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1CC36-4780-412B-8E05-A9F8A6B4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攻击面细分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E0A5-B299-4CE9-B09E-D9B47DD7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修复版改善用户注入；混合攻击仍然最难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FBE1D-21C7-4A41-9633-647FFF75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3E2A-3A02-4B4B-A322-CB23A7E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13742-90E3-4DCD-A2FD-C749A4FB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4457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8237E-16F1-4858-ADA6-D68AAA4B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控制组  60.0%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0086D-17E7-4D0F-B7D5-9F91ADB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2410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68CE4-0756-4246-A9C8-5D589F5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24100"/>
            <a:ext cx="3962152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0856C-89E7-465E-A931-115ED6D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24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完整防御  53.3%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1D288-A396-4464-96B9-AB8723FA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B19AB-6CFC-40C0-9063-C0764C2A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346734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0FA97-CBCD-4F97-8338-2B801AE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修复版  46.7%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34807-CF21-431F-A4DA-BE3FC31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检索文档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7A34F-C354-4773-96D8-FF80165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66A09-967B-468D-AF98-DE0D048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22288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6367D-5877-4068-8C3C-27083B5E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控制组  30.0%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45F05-14B9-44EC-8EF0-FAE38EE9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A610A-F88B-4E44-A4BD-7EC0AC7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62350"/>
            <a:ext cx="2971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33ADA-7517-4086-82E5-6735661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完整防御  40.0%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AC172-87CB-4A14-AC67-8EBC78F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8620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3D26F-CE42-48FB-8DDB-945694F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86200"/>
            <a:ext cx="2971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DBA2C-C3BF-45B5-969C-69D7674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86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修复版  40.0%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3CD44-6CB2-4CD0-8A98-87967CE1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混合攻击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19DBC-4A33-4F55-BE58-69EC384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ED884-B239-461B-82A2-5770456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070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A86C8-38DB-4799-97CE-2D57ADAF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76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控制组  100.0%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D34D8-8777-4CD7-9507-9B1ED8C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79E0C-A399-499F-B9CD-97A8240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3714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A8D7D-A4EC-4DF8-8BFB-CD03E2F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00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完整防御  50.0%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7CDF0-1736-4348-9044-DD3D160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742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FE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147C0A-8A3A-423F-AC72-1C5E04A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714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9FF080-D160-45FB-AFFB-8F238D4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021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213B"/>
                </a:solidFill>
                <a:latin typeface="Arial"/>
                <a:ea typeface="Arial"/>
                <a:cs typeface="Arial"/>
              </a:rPr>
              <a:t>修复版  50.0%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B5C42-25A0-4B2B-94FC-F4A01D7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2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B95214-46FE-43DA-83A8-6EB0908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6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注意：混合攻击只有 2 条样本，50% 代表 1/2，不应被解读为稳定总体估计。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46819-1875-4120-9CEB-9CC4B12D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Source: outputs/evaluation/asr_breakdown.csv</a:t>
            </a:r>
          </a:p>
        </p:txBody>
      </p:sp>
    </p:spTree>
    <p:extLst>
      <p:ext uri="{BB962C8B-B14F-4D97-AF65-F5344CB8AC3E}">
        <p14:creationId xmlns:p14="http://schemas.microsoft.com/office/powerpoint/2010/main" val="20982908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E9D75-42AB-49F7-96CB-681360E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06E7-D1DD-4A05-8437-5449C44A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3B8C9-EAFC-4CC5-82DC-36512DA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449B7-22D1-4DBE-BA82-EE52DD6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5445-4E3E-4A64-AFC6-B8158938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F96AD-16A0-44FF-B17D-261A410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安全—效用取舍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9A1F0-C2DA-48EE-A8AD-F534DEA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最安全的行为并不等于最有用的系统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1D5FE-536C-408A-AB37-C91A7871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238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19F95-C3EF-411A-A39F-B99DED1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已证明的安全收益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05E6F-C6F5-4789-8BAA-15F92205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E1E1-7DF5-450E-AAD5-3494E9E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→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F05D1-CCE4-4B90-AD43-579DEE0B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带毒/伪造引用回答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CF09C-B34C-4D81-8D92-63521C56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09650-42F4-4828-8BE8-DA7B62F4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 → 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F975B-6774-43BD-AD35-A60005C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必拒问题召回率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0D8B1-D768-45C8-A96D-2108B63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CC8E2-9F93-41B6-B352-4E3FDBE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51.85 → 44.44%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4DB9C-EBA7-4F09-84C8-61CC277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控制组到修复版 ASR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980B-A2D2-4C91-8D9C-A8FAD20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673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43D69-2928-4D9D-858E-1869814F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仍未解决的工程问题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67E89-D29D-4633-9D4C-ADFF124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A7C0E-8208-4F2E-A745-05F0738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过度拒答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79D6-C607-4AEE-BFA7-79D6FD91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修复版拒答 18 次，但只有 5 次必须拒答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E9431-1437-4A8D-ABD6-95EC457B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0B5D0-D18C-48AC-96F3-6CDBE700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标签泄漏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2FD55-4493-4137-9D0A-D869D7D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过滤器直接使用 is_poisoned / adversarial 标签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110F7-68AF-44CD-AED4-DB4E5A22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D55F4-6AC9-4B89-A92D-E1E1003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代理评估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A14CB-84E5-473A-8C7A-895774D3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token overlap 不能完全代表语义正确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7C18C-505C-4F36-BD9D-58531E9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BE0F1-0A25-444F-9BC6-DCFDFA7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13B"/>
                </a:solidFill>
                <a:latin typeface="PingFang SC"/>
                <a:ea typeface="PingFang SC"/>
                <a:cs typeface="PingFang SC"/>
              </a:rPr>
              <a:t>样本规模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8101A-142E-4D8C-A1A0-D985880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混合攻击仅 2 条，缺少置信区间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DB5A0-B4B0-4B12-BCFA-4575896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07089"/>
                </a:solidFill>
                <a:latin typeface="PingFang SC"/>
                <a:ea typeface="PingFang SC"/>
                <a:cs typeface="PingFang SC"/>
              </a:rPr>
              <a:t>Interpretation: proxy metrics, not production certification</a:t>
            </a:r>
          </a:p>
        </p:txBody>
      </p:sp>
    </p:spTree>
    <p:extLst>
      <p:ext uri="{BB962C8B-B14F-4D97-AF65-F5344CB8AC3E}">
        <p14:creationId xmlns:p14="http://schemas.microsoft.com/office/powerpoint/2010/main" val="649810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07DFAF-3562-4BA0-AE97-782B2E9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54EF1-98F6-47AA-84EA-41D7D019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3751-2B25-4066-832C-CB170EF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600" b="1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PROMPT INJECTION · RAG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19C3-1929-4509-AB2C-F70172F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A9C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9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99682-48EE-4D35-8304-DA88666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D143-DD89-4E0D-9AA1-A13E8DD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结论与下一步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057B0-1613-458A-BE77-5151E8E4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分层防御值得保留，但必须从“测试可行”走向“部署可信”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A8651-5447-4DD3-9784-8B99DF03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106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1E50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A162B-B66C-4EAA-9864-9C34B2C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DD3FC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8CA29-1C7C-429F-870F-D29B05A8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防御成功切断了带毒引用链，并改善攻击抵抗；下一阶段的核心不是继续增加拒答，而是提高验证校准。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5E48C-1DDC-4B5D-9003-74F5DEC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711A-88F1-4C2F-9BA4-1A8ABB59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7175E-9D2D-4308-9D97-E50D174B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移除 oracle 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0D32-1D89-4465-8B64-C8ECDFE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95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只用来源信任、内容检测和异常信号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7E76D-3191-413F-BB7A-A4A3E1ED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95750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8CA29-2746-4206-B969-69222337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459E0-5F2B-4B4B-A0C3-D2A61E1B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5"/>
          </a:solidFill>
          <a:ln xmlns:a="http://schemas.openxmlformats.org/drawingml/2006/main" w="0">
            <a:solidFill>
              <a:srgbClr val="1739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A91F9-1F96-4B96-8BAF-7DDF4D20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4332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4D4B5-F821-4428-B0AE-553D89FF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校准验证器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D641C-B290-4847-ADB0-32B8C1F0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区分危险回答与措辞差异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39226-527C-4C1C-BEF5-A1B4A14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95750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553A7-B4F8-4F9E-82F3-09B0B9A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481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1F15C-23CB-4331-9DDA-F5037C60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5"/>
          </a:solidFill>
          <a:ln xmlns:a="http://schemas.openxmlformats.org/drawingml/2006/main" w="0">
            <a:solidFill>
              <a:srgbClr val="1739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75F38-01D7-411B-9A6A-2DCA3D4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05474-6DB9-4DBB-94A2-6BDE4C8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先重检索再拒答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5C0FC-25EB-4793-B766-19084A06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失败时扩大证据搜索而非立即终止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C4BB0-3961-46C3-B371-15A29192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95750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EAA5A-201C-4BE6-A48F-5D09F22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481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84131E-1DF4-48FD-BBE3-07D9C31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85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5"/>
          </a:solidFill>
          <a:ln xmlns:a="http://schemas.openxmlformats.org/drawingml/2006/main" w="0">
            <a:solidFill>
              <a:srgbClr val="1739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326E6-7C6B-4670-9667-E06F2F8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43325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72BF5-5B53-4C2E-ACE2-3363B414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5"/>
                </a:solidFill>
                <a:latin typeface="PingFang SC"/>
                <a:ea typeface="PingFang SC"/>
                <a:cs typeface="PingFang SC"/>
              </a:rPr>
              <a:t>扩大评估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9F689-6D19-413C-AE44-1F14A6E9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9D8E8"/>
                </a:solidFill>
                <a:latin typeface="PingFang SC"/>
                <a:ea typeface="PingFang SC"/>
                <a:cs typeface="PingFang SC"/>
              </a:rPr>
              <a:t>更多混合攻击、模型、重复运行和置信区间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C9B145-FA01-4186-BC69-2E8CBB7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10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DDE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DDE5"/>
                </a:solidFill>
                <a:latin typeface="PingFang SC"/>
                <a:ea typeface="PingFang SC"/>
                <a:cs typeface="PingFang SC"/>
              </a:rPr>
              <a:t>最终交付：可复现实验代码 · 结果 CSV/JSON · Part E 图表 · 综合报告 · 可编辑 PPT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91D25-8256-4861-A865-CF95056A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81775"/>
            <a:ext cx="419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A9C4"/>
                </a:solidFill>
                <a:latin typeface="PingFang SC"/>
                <a:ea typeface="PingFang SC"/>
                <a:cs typeface="PingFang SC"/>
              </a:rPr>
              <a:t>Repository: Chiefy91/prompt-injection-rag-handbook</a:t>
            </a:r>
          </a:p>
        </p:txBody>
      </p:sp>
    </p:spTree>
    <p:extLst>
      <p:ext uri="{BB962C8B-B14F-4D97-AF65-F5344CB8AC3E}">
        <p14:creationId xmlns:p14="http://schemas.microsoft.com/office/powerpoint/2010/main" val="115963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2026-06-10T10:39:38.3510000Z</dcterms:created>
  <dcterms:modified xsi:type="dcterms:W3CDTF">2026-06-10T10:39:38.3520000Z</dcterms:modified>
</coreProperties>
</file>